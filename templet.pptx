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2926080"/>
          </a:xfrm>
          <a:prstGeom prst="roundRect">
            <a:avLst/>
          </a:prstGeom>
          <a:solidFill>
            <a:srgbClr val="1A273A"/>
          </a:solidFill>
          <a:ln w="1651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/>
            <a:r>
              <a:rPr sz="4400" b="1">
                <a:solidFill>
                  <a:srgbClr val="E9EFF5"/>
                </a:solidFill>
                <a:latin typeface="Malgun Gothic"/>
              </a:rPr>
              <a:t>모의해킹 · 분석 · 탐지/방어
프로젝트 강의 템플릿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AAB8C7"/>
                </a:solidFill>
                <a:latin typeface="Malgun Gothic"/>
              </a:rPr>
              <a:t>실습 중심 · 인시던트 기반 스토리텔링 · 운영 가능한 산출물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/>
          <a:lstStyle/>
          <a:p>
            <a:pPr algn="ctr"/>
            <a:r>
              <a:rPr sz="1600">
                <a:solidFill>
                  <a:srgbClr val="AAB8C7"/>
                </a:solidFill>
                <a:latin typeface="Malgun Gothic"/>
              </a:rPr>
              <a:t>강사명 / 과정명 / 날짜  |  버전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548640"/>
            <a:ext cx="2286000" cy="548640"/>
          </a:xfrm>
          <a:prstGeom prst="roundRect">
            <a:avLst/>
          </a:prstGeom>
          <a:solidFill>
            <a:srgbClr val="0C121C"/>
          </a:solidFill>
          <a:ln w="1524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C4FF"/>
                </a:solidFill>
                <a:latin typeface="Malgun Gothic"/>
              </a:rPr>
              <a:t>Hands-on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목차 (Agenda)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1109960" cy="516636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C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02920" rIns="411480" tIns="228600" wrap="square"/>
          <a:lstStyle/>
          <a:p>
            <a:pPr algn="ctr"/>
            <a:r>
              <a:rPr sz="1800" b="1">
                <a:solidFill>
                  <a:srgbClr val="00C4FF"/>
                </a:solidFill>
                <a:latin typeface="Malgun Gothic"/>
              </a:rPr>
              <a:t>핵심 포인트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1. 프로젝트 개요 및 공격 시나리오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2. 침투(모의해킹) 단계: 초기 접근·권한·지속성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3. 분석 단계: 정적·동적·네트워크·메모리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4. 탐지·방어 단계: 규칙(Sigma/YARA)·EDR·SOAR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5. 인시던트 리포트 &amp; 운영 이관(체크리스트)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2834640"/>
          </a:xfrm>
          <a:prstGeom prst="rect">
            <a:avLst/>
          </a:prstGeom>
          <a:solidFill>
            <a:srgbClr val="1A273A"/>
          </a:solidFill>
          <a:ln w="1524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 rIns="457200" wrap="square"/>
          <a:lstStyle/>
          <a:p>
            <a:pPr algn="ctr"/>
            <a:r>
              <a:rPr sz="4400" b="1">
                <a:solidFill>
                  <a:srgbClr val="E9EFF5"/>
                </a:solidFill>
                <a:latin typeface="Malgun Gothic"/>
              </a:rPr>
              <a:t>PART 1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AAB8C7"/>
                </a:solidFill>
                <a:latin typeface="Malgun Gothic"/>
              </a:rPr>
              <a:t>모의해킹(침투) 설계와 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283464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PART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공격 시나리오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1109960" cy="516636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C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02920" rIns="411480" tIns="228600" wrap="square"/>
          <a:lstStyle/>
          <a:p>
            <a:pPr algn="ctr"/>
            <a:r>
              <a:rPr sz="1800" b="1">
                <a:solidFill>
                  <a:srgbClr val="00C4FF"/>
                </a:solidFill>
                <a:latin typeface="Malgun Gothic"/>
              </a:rPr>
              <a:t>핵심 포인트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목표 자산/범위(네트워크·계정·클라우드 리소스) 정의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공격 체인(MITRE ATT&amp;CK) 매핑: Initial Access → Execution → Persistence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성공 기준: 탐지 로그 확보, IOC 도출, 대응 플레이북 검증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윤리/법적 준수: 승인 범위·데이터 취급·증적(Chain of Custody)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산출물(Artifacts)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5486400" cy="484632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 rIns="411480" tIns="228600" wrap="square"/>
          <a:lstStyle/>
          <a:p>
            <a:pPr algn="ctr"/>
            <a:r>
              <a:rPr sz="1800" b="1">
                <a:solidFill>
                  <a:srgbClr val="00C4FF"/>
                </a:solidFill>
                <a:latin typeface="Malgun Gothic"/>
              </a:rPr>
              <a:t>공격(레드팀) 산출물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9EFF5"/>
                </a:solidFill>
                <a:latin typeface="Malgun Gothic"/>
              </a:rPr>
              <a:t>- 포인트 1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9EFF5"/>
                </a:solidFill>
                <a:latin typeface="Malgun Gothic"/>
              </a:rPr>
              <a:t>- 포인트 2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9EFF5"/>
                </a:solidFill>
                <a:latin typeface="Malgun Gothic"/>
              </a:rPr>
              <a:t>- 포인트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486400" cy="484632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 rIns="411480" tIns="228600" wrap="square"/>
          <a:lstStyle/>
          <a:p>
            <a:pPr algn="ctr"/>
            <a:r>
              <a:rPr sz="1800" b="1">
                <a:solidFill>
                  <a:srgbClr val="00C4FF"/>
                </a:solidFill>
                <a:latin typeface="Malgun Gothic"/>
              </a:rPr>
              <a:t>방어(블루팀) 산출물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9EFF5"/>
                </a:solidFill>
                <a:latin typeface="Malgun Gothic"/>
              </a:rPr>
              <a:t>- 포인트 1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9EFF5"/>
                </a:solidFill>
                <a:latin typeface="Malgun Gothic"/>
              </a:rPr>
              <a:t>- 포인트 2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9EFF5"/>
                </a:solidFill>
                <a:latin typeface="Malgun Gothic"/>
              </a:rPr>
              <a:t>- 포인트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강의 진행 프로세스 도식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B8C7"/>
                </a:solidFill>
                <a:latin typeface="Malgun Gothic"/>
              </a:rPr>
              <a:t>3단계 학습 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1018520" cy="512064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40280"/>
            <a:ext cx="2651760" cy="201168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FF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9EFF5"/>
                </a:solidFill>
                <a:latin typeface="Malgun Gothic"/>
              </a:rPr>
              <a:t>1. 침투 재현
공격 경로 이해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240280"/>
            <a:ext cx="2651760" cy="201168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9EFF5"/>
                </a:solidFill>
                <a:latin typeface="Malgun Gothic"/>
              </a:rPr>
              <a:t>2. 증거 분석
로그/패킷/메모리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240280"/>
            <a:ext cx="2651760" cy="2011680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9EFF5"/>
                </a:solidFill>
                <a:latin typeface="Malgun Gothic"/>
              </a:rPr>
              <a:t>3. 탐지/방어
룰/플레이북 반영</a:t>
            </a:r>
          </a:p>
        </p:txBody>
      </p:sp>
      <p:sp>
        <p:nvSpPr>
          <p:cNvPr id="11" name="Chevron 10"/>
          <p:cNvSpPr/>
          <p:nvPr/>
        </p:nvSpPr>
        <p:spPr>
          <a:xfrm>
            <a:off x="3794760" y="3108960"/>
            <a:ext cx="685800" cy="320040"/>
          </a:xfrm>
          <a:prstGeom prst="chevron">
            <a:avLst/>
          </a:prstGeom>
          <a:solidFill>
            <a:srgbClr val="AA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406640" y="3108960"/>
            <a:ext cx="685800" cy="320040"/>
          </a:xfrm>
          <a:prstGeom prst="chevron">
            <a:avLst/>
          </a:prstGeom>
          <a:solidFill>
            <a:srgbClr val="AA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핵심 사례 이미지 분석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B8C7"/>
                </a:solidFill>
                <a:latin typeface="Malgun Gothic"/>
              </a:rPr>
              <a:t>큰 이미지 + 해설 박스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635240" cy="5120640"/>
          </a:xfrm>
          <a:prstGeom prst="rect">
            <a:avLst/>
          </a:prstGeom>
          <a:solidFill>
            <a:srgbClr val="080C12"/>
          </a:solidFill>
          <a:ln>
            <a:solidFill>
              <a:srgbClr val="AA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AAB8C7"/>
                </a:solidFill>
                <a:latin typeface="Malgun Gothic"/>
              </a:rPr>
              <a:t>메인 이미지 삽입 영역
(사고 흐름도 / 대시보드 캡처)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417320"/>
            <a:ext cx="2926080" cy="960120"/>
          </a:xfrm>
          <a:prstGeom prst="roundRect">
            <a:avLst/>
          </a:prstGeom>
          <a:solidFill>
            <a:srgbClr val="1A273A"/>
          </a:solidFill>
          <a:ln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주석 1
핵심 해설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743200"/>
            <a:ext cx="2926080" cy="960120"/>
          </a:xfrm>
          <a:prstGeom prst="roundRect">
            <a:avLst/>
          </a:prstGeom>
          <a:solidFill>
            <a:srgbClr val="1A273A"/>
          </a:solidFill>
          <a:ln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주석 2
핵심 해설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4069080"/>
            <a:ext cx="2926080" cy="960120"/>
          </a:xfrm>
          <a:prstGeom prst="roundRect">
            <a:avLst/>
          </a:prstGeom>
          <a:solidFill>
            <a:srgbClr val="1A273A"/>
          </a:solidFill>
          <a:ln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주석 3
핵심 해설 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2834640"/>
          </a:xfrm>
          <a:prstGeom prst="rect">
            <a:avLst/>
          </a:prstGeom>
          <a:solidFill>
            <a:srgbClr val="1A273A"/>
          </a:solidFill>
          <a:ln w="1524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 rIns="457200" wrap="square"/>
          <a:lstStyle/>
          <a:p>
            <a:pPr algn="ctr"/>
            <a:r>
              <a:rPr sz="4400" b="1">
                <a:solidFill>
                  <a:srgbClr val="E9EFF5"/>
                </a:solidFill>
                <a:latin typeface="Malgun Gothic"/>
              </a:rPr>
              <a:t>PART 2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AAB8C7"/>
                </a:solidFill>
                <a:latin typeface="Malgun Gothic"/>
              </a:rPr>
              <a:t>악성코드/행위 분석으로 근거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283464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PART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분석 워크플로우 (정적 → 동적 → 네트워크)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1109960" cy="516636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C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02920" rIns="411480" tIns="228600" wrap="square"/>
          <a:lstStyle/>
          <a:p>
            <a:pPr algn="ctr"/>
            <a:r>
              <a:rPr sz="1800" b="1">
                <a:solidFill>
                  <a:srgbClr val="00C4FF"/>
                </a:solidFill>
                <a:latin typeface="Malgun Gothic"/>
              </a:rPr>
              <a:t>핵심 포인트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정적: 해시/PE 메타/문자열/임포트/패커·난독화 여부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동적: 프로세스 트리·파일/레지스트리·스케줄러·서비스 변경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네트워크: DNS/HTTP(S)/TLS 지문·C2 패턴·도메인 생성(DGA)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• 증거 정리: IOC, TTP, 타임라인, 재현 가능한 스텝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탐지 규칙 예시 (Sigma/YARA)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B8C7"/>
                </a:solidFill>
                <a:latin typeface="Malgun Gothic"/>
              </a:rPr>
              <a:t>예시 코드 (Sigma / YARA / Python)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35640" cy="5212080"/>
          </a:xfrm>
          <a:prstGeom prst="roundRect">
            <a:avLst/>
          </a:prstGeom>
          <a:solidFill>
            <a:srgbClr val="060A10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28600" wrap="square"/>
          <a:lstStyle/>
          <a:p>
            <a:pPr algn="ctr"/>
            <a:r>
              <a:rPr sz="1400">
                <a:solidFill>
                  <a:srgbClr val="E6ECF5"/>
                </a:solidFill>
                <a:latin typeface="Consolas"/>
              </a:rPr>
              <a:t># TODO: 탐지 규칙/분석 스크립트를 여기에 붙여넣으세요
title: Suspicious PowerShell EncodedCommand
logsource:
  product: windows
  service: powershell
detection:
  selection:
    CommandLine|contains: '-enc'
  condition: selection
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분석 근거 이미지 보드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B8C7"/>
                </a:solidFill>
                <a:latin typeface="Malgun Gothic"/>
              </a:rPr>
              <a:t>이미지/스크린샷 삽입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1018520" cy="512064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691640"/>
            <a:ext cx="2834640" cy="1600200"/>
          </a:xfrm>
          <a:prstGeom prst="rect">
            <a:avLst/>
          </a:prstGeom>
          <a:solidFill>
            <a:srgbClr val="080C12"/>
          </a:solidFill>
          <a:ln>
            <a:solidFill>
              <a:srgbClr val="AA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AAB8C7"/>
                </a:solidFill>
                <a:latin typeface="Malgun Gothic"/>
              </a:rPr>
              <a:t>이미지 A
(실습 화면)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691640"/>
            <a:ext cx="2834640" cy="1600200"/>
          </a:xfrm>
          <a:prstGeom prst="rect">
            <a:avLst/>
          </a:prstGeom>
          <a:solidFill>
            <a:srgbClr val="080C12"/>
          </a:solidFill>
          <a:ln>
            <a:solidFill>
              <a:srgbClr val="AA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AAB8C7"/>
                </a:solidFill>
                <a:latin typeface="Malgun Gothic"/>
              </a:rPr>
              <a:t>이미지 B
(패킷 분석)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691640"/>
            <a:ext cx="2834640" cy="1600200"/>
          </a:xfrm>
          <a:prstGeom prst="rect">
            <a:avLst/>
          </a:prstGeom>
          <a:solidFill>
            <a:srgbClr val="080C12"/>
          </a:solidFill>
          <a:ln>
            <a:solidFill>
              <a:srgbClr val="AA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AAB8C7"/>
                </a:solidFill>
                <a:latin typeface="Malgun Gothic"/>
              </a:rPr>
              <a:t>이미지 C
(EDR 콘솔)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703320"/>
            <a:ext cx="2834640" cy="1600200"/>
          </a:xfrm>
          <a:prstGeom prst="rect">
            <a:avLst/>
          </a:prstGeom>
          <a:solidFill>
            <a:srgbClr val="080C12"/>
          </a:solidFill>
          <a:ln>
            <a:solidFill>
              <a:srgbClr val="AA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AAB8C7"/>
                </a:solidFill>
                <a:latin typeface="Malgun Gothic"/>
              </a:rPr>
              <a:t>이미지 D
(ATT&amp;CK 매핑)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3703320"/>
            <a:ext cx="2834640" cy="1600200"/>
          </a:xfrm>
          <a:prstGeom prst="rect">
            <a:avLst/>
          </a:prstGeom>
          <a:solidFill>
            <a:srgbClr val="080C12"/>
          </a:solidFill>
          <a:ln>
            <a:solidFill>
              <a:srgbClr val="AA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AAB8C7"/>
                </a:solidFill>
                <a:latin typeface="Malgun Gothic"/>
              </a:rPr>
              <a:t>이미지 E
(로그 대시보드)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3703320"/>
            <a:ext cx="2834640" cy="1600200"/>
          </a:xfrm>
          <a:prstGeom prst="rect">
            <a:avLst/>
          </a:prstGeom>
          <a:solidFill>
            <a:srgbClr val="080C12"/>
          </a:solidFill>
          <a:ln>
            <a:solidFill>
              <a:srgbClr val="AA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AAB8C7"/>
                </a:solidFill>
                <a:latin typeface="Malgun Gothic"/>
              </a:rPr>
              <a:t>이미지 F
(리포트 그래프)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2834640"/>
          </a:xfrm>
          <a:prstGeom prst="rect">
            <a:avLst/>
          </a:prstGeom>
          <a:solidFill>
            <a:srgbClr val="1A273A"/>
          </a:solidFill>
          <a:ln w="1524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 rIns="457200" wrap="square"/>
          <a:lstStyle/>
          <a:p>
            <a:pPr algn="ctr"/>
            <a:r>
              <a:rPr sz="4400" b="1">
                <a:solidFill>
                  <a:srgbClr val="E9EFF5"/>
                </a:solidFill>
                <a:latin typeface="Malgun Gothic"/>
              </a:rPr>
              <a:t>PART 3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AAB8C7"/>
                </a:solidFill>
                <a:latin typeface="Malgun Gothic"/>
              </a:rPr>
              <a:t>탐지·방어: 운영 가능한 룰과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283464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PART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탐지/방어 아키텍처 도식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B8C7"/>
                </a:solidFill>
                <a:latin typeface="Malgun Gothic"/>
              </a:rPr>
              <a:t>공격/방어 아키텍처 다이어그램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1018520" cy="512064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1828800" cy="1920240"/>
          </a:xfrm>
          <a:prstGeom prst="roundRect">
            <a:avLst/>
          </a:prstGeom>
          <a:solidFill>
            <a:srgbClr val="0A0F18"/>
          </a:solidFill>
          <a:ln w="17780">
            <a:solidFill>
              <a:srgbClr val="FF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9EFF5"/>
                </a:solidFill>
                <a:latin typeface="Malgun Gothic"/>
              </a:rPr>
              <a:t>외부 위협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194560"/>
            <a:ext cx="1828800" cy="1920240"/>
          </a:xfrm>
          <a:prstGeom prst="roundRect">
            <a:avLst/>
          </a:prstGeom>
          <a:solidFill>
            <a:srgbClr val="0A0F18"/>
          </a:solidFill>
          <a:ln w="1778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9EFF5"/>
                </a:solidFill>
                <a:latin typeface="Malgun Gothic"/>
              </a:rPr>
              <a:t>경계 방어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94560"/>
            <a:ext cx="1828800" cy="1920240"/>
          </a:xfrm>
          <a:prstGeom prst="roundRect">
            <a:avLst/>
          </a:prstGeom>
          <a:solidFill>
            <a:srgbClr val="0A0F18"/>
          </a:solidFill>
          <a:ln w="17780"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9EFF5"/>
                </a:solidFill>
                <a:latin typeface="Malgun Gothic"/>
              </a:rPr>
              <a:t>내부 자산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194560"/>
            <a:ext cx="1828800" cy="1920240"/>
          </a:xfrm>
          <a:prstGeom prst="roundRect">
            <a:avLst/>
          </a:prstGeom>
          <a:solidFill>
            <a:srgbClr val="0A0F18"/>
          </a:solidFill>
          <a:ln w="1778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9EFF5"/>
                </a:solidFill>
                <a:latin typeface="Malgun Gothic"/>
              </a:rPr>
              <a:t>SOC 대응</a:t>
            </a:r>
          </a:p>
        </p:txBody>
      </p:sp>
      <p:sp>
        <p:nvSpPr>
          <p:cNvPr id="12" name="Chevron 11"/>
          <p:cNvSpPr/>
          <p:nvPr/>
        </p:nvSpPr>
        <p:spPr>
          <a:xfrm>
            <a:off x="2834640" y="2926080"/>
            <a:ext cx="640080" cy="320040"/>
          </a:xfrm>
          <a:prstGeom prst="chevron">
            <a:avLst/>
          </a:prstGeom>
          <a:solidFill>
            <a:srgbClr val="AA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5669280" y="2926080"/>
            <a:ext cx="640080" cy="320040"/>
          </a:xfrm>
          <a:prstGeom prst="chevron">
            <a:avLst/>
          </a:prstGeom>
          <a:solidFill>
            <a:srgbClr val="AA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8458200" y="2926080"/>
            <a:ext cx="640080" cy="320040"/>
          </a:xfrm>
          <a:prstGeom prst="chevron">
            <a:avLst/>
          </a:prstGeom>
          <a:solidFill>
            <a:srgbClr val="AA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인시던트 타임라인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B8C7"/>
                </a:solidFill>
                <a:latin typeface="Malgun Gothic"/>
              </a:rPr>
              <a:t>사고 분석 타임라인 (예시)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972800" cy="521208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657600"/>
            <a:ext cx="9966960" cy="73152"/>
          </a:xfrm>
          <a:prstGeom prst="rect">
            <a:avLst/>
          </a:prstGeom>
          <a:solidFill>
            <a:srgbClr val="AA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3447288"/>
            <a:ext cx="411480" cy="411480"/>
          </a:xfrm>
          <a:prstGeom prst="ellipse">
            <a:avLst/>
          </a:prstGeom>
          <a:solidFill>
            <a:srgbClr val="FF5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886200"/>
            <a:ext cx="1234440" cy="9601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FF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T0
피싱/취약점
초기 침투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3447288"/>
            <a:ext cx="411480" cy="411480"/>
          </a:xfrm>
          <a:prstGeom prst="ellipse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3886200"/>
            <a:ext cx="1234440" cy="9601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T+5m
다운로더
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5166360" y="3447288"/>
            <a:ext cx="411480" cy="411480"/>
          </a:xfrm>
          <a:prstGeom prst="ellipse">
            <a:avLst/>
          </a:prstGeom>
          <a:solidFill>
            <a:srgbClr val="FF5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3886200"/>
            <a:ext cx="1234440" cy="9601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FF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T+20m
권한 상승/
지속성</a:t>
            </a:r>
          </a:p>
        </p:txBody>
      </p:sp>
      <p:sp>
        <p:nvSpPr>
          <p:cNvPr id="15" name="Oval 14"/>
          <p:cNvSpPr/>
          <p:nvPr/>
        </p:nvSpPr>
        <p:spPr>
          <a:xfrm>
            <a:off x="7132319" y="3447288"/>
            <a:ext cx="411480" cy="411480"/>
          </a:xfrm>
          <a:prstGeom prst="ellipse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39" y="3886200"/>
            <a:ext cx="1234440" cy="9601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T+40m
C2 통신/
내부 이동</a:t>
            </a:r>
          </a:p>
        </p:txBody>
      </p:sp>
      <p:sp>
        <p:nvSpPr>
          <p:cNvPr id="17" name="Oval 16"/>
          <p:cNvSpPr/>
          <p:nvPr/>
        </p:nvSpPr>
        <p:spPr>
          <a:xfrm>
            <a:off x="9098280" y="3447288"/>
            <a:ext cx="411480" cy="411480"/>
          </a:xfrm>
          <a:prstGeom prst="ellipse">
            <a:avLst/>
          </a:prstGeom>
          <a:solidFill>
            <a:srgbClr val="0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0" y="3886200"/>
            <a:ext cx="1234440" cy="960120"/>
          </a:xfrm>
          <a:prstGeom prst="roundRect">
            <a:avLst/>
          </a:prstGeom>
          <a:solidFill>
            <a:srgbClr val="0A0F18"/>
          </a:solidFill>
          <a:ln w="12700"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E9EFF5"/>
                </a:solidFill>
                <a:latin typeface="Malgun Gothic"/>
              </a:rPr>
              <a:t>T+2h
탐지/격리/
포렌식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ctr"/>
            <a:r>
              <a:rPr sz="2600" b="1">
                <a:solidFill>
                  <a:srgbClr val="E9EFF5"/>
                </a:solidFill>
                <a:latin typeface="Malgun Gothic"/>
              </a:rPr>
              <a:t>운영 이관 체크리스트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B8C7"/>
                </a:solidFill>
                <a:latin typeface="Malgun Gothic"/>
              </a:rPr>
              <a:t>실습/운영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8096"/>
            <a:ext cx="12191695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972800" cy="5212080"/>
          </a:xfrm>
          <a:prstGeom prst="roundRect">
            <a:avLst/>
          </a:prstGeom>
          <a:solidFill>
            <a:srgbClr val="1A273A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tIns="274320" wrap="square"/>
          <a:lstStyle/>
          <a:p>
            <a:pPr algn="ctr"/>
            <a:r>
              <a:rPr sz="1800" b="1">
                <a:solidFill>
                  <a:srgbClr val="00C4FF"/>
                </a:solidFill>
                <a:latin typeface="Malgun Gothic"/>
              </a:rPr>
              <a:t>체크 항목</a:t>
            </a:r>
          </a:p>
          <a:p>
            <a:pPr>
              <a:spcBef>
                <a:spcPts val="9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☐ 탐지 룰(시그마/EDR 쿼리)과 테스트 케이스 포함</a:t>
            </a:r>
          </a:p>
          <a:p>
            <a:pPr>
              <a:spcBef>
                <a:spcPts val="9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☐ 오탐/정탐 기준과 예외 처리(화이트리스트) 문서화</a:t>
            </a:r>
          </a:p>
          <a:p>
            <a:pPr>
              <a:spcBef>
                <a:spcPts val="9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☐ 대응 플레이북(격리/차단/계정 잠금) 승인 라인 정의</a:t>
            </a:r>
          </a:p>
          <a:p>
            <a:pPr>
              <a:spcBef>
                <a:spcPts val="9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☐ 대시보드/경보 우선순위(Severity) 튜닝 근거 남기기</a:t>
            </a:r>
          </a:p>
          <a:p>
            <a:pPr>
              <a:spcBef>
                <a:spcPts val="900"/>
              </a:spcBef>
            </a:pPr>
            <a:r>
              <a:rPr sz="1600">
                <a:solidFill>
                  <a:srgbClr val="E9EFF5"/>
                </a:solidFill>
                <a:latin typeface="Malgun Gothic"/>
              </a:rPr>
              <a:t>☐ 사후 보고서(요약·영향·원인·재발방지) 템플릿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© Template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2834640"/>
          </a:xfrm>
          <a:prstGeom prst="rect">
            <a:avLst/>
          </a:prstGeom>
          <a:solidFill>
            <a:srgbClr val="1A273A"/>
          </a:solidFill>
          <a:ln w="1524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 rIns="457200" wrap="square"/>
          <a:lstStyle/>
          <a:p>
            <a:pPr algn="ctr"/>
            <a:r>
              <a:rPr sz="4400" b="1">
                <a:solidFill>
                  <a:srgbClr val="E9EFF5"/>
                </a:solidFill>
                <a:latin typeface="Malgun Gothic"/>
              </a:rPr>
              <a:t>Q&amp;A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AAB8C7"/>
                </a:solidFill>
                <a:latin typeface="Malgun Gothic"/>
              </a:rPr>
              <a:t>질문과 토론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9728" cy="283464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Q&amp;A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241280" y="-91440"/>
            <a:ext cx="2560320" cy="2560320"/>
          </a:xfrm>
          <a:prstGeom prst="donut">
            <a:avLst/>
          </a:prstGeom>
          <a:solidFill>
            <a:srgbClr val="1A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652760" y="320040"/>
            <a:ext cx="1737360" cy="1737360"/>
          </a:xfrm>
          <a:prstGeom prst="donut">
            <a:avLst/>
          </a:prstGeom>
          <a:solidFill>
            <a:srgbClr val="4C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057400"/>
            <a:ext cx="10012680" cy="2743200"/>
          </a:xfrm>
          <a:prstGeom prst="roundRect">
            <a:avLst/>
          </a:prstGeom>
          <a:solidFill>
            <a:srgbClr val="1A273A"/>
          </a:solidFill>
          <a:ln w="1524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>
                <a:solidFill>
                  <a:srgbClr val="E9EFF5"/>
                </a:solidFill>
                <a:latin typeface="Malgun Gothic"/>
              </a:rPr>
              <a:t>감사합니다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AAB8C7"/>
                </a:solidFill>
                <a:latin typeface="Malgun Gothic"/>
              </a:rPr>
              <a:t>연락처 / 자료 링크 / 실습 저장소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4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  <a:r>
              <a:rPr sz="1100">
                <a:solidFill>
                  <a:srgbClr val="AAB8C7"/>
                </a:solidFill>
                <a:latin typeface="Malgun Gothic"/>
              </a:rPr>
              <a:t>모의해킹 · 분석 · 탐지/방어 프로젝트 강의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6519672"/>
            <a:ext cx="2011680" cy="265176"/>
          </a:xfrm>
          <a:prstGeom prst="roundRect">
            <a:avLst/>
          </a:prstGeom>
          <a:solidFill>
            <a:srgbClr val="0C121C"/>
          </a:solidFill>
          <a:ln w="12700">
            <a:solidFill>
              <a:srgbClr val="00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E9EFF5"/>
                </a:solidFill>
                <a:latin typeface="Malgun Gothic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